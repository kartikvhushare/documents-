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920240"/>
            <a:ext cx="5852160" cy="5852160"/>
          </a:xfrm>
          <a:prstGeom prst="ellipse">
            <a:avLst/>
          </a:prstGeom>
          <a:solidFill>
            <a:srgbClr val="0E9F6E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554480" y="4023360"/>
            <a:ext cx="4572000" cy="4572000"/>
          </a:xfrm>
          <a:prstGeom prst="ellipse">
            <a:avLst/>
          </a:prstGeom>
          <a:solidFill>
            <a:srgbClr val="0B7A55">
              <a:alpha val="18000"/>
            </a:srgbClr>
          </a:solidFill>
          <a:ln/>
        </p:spPr>
      </p:sp>
      <p:pic>
        <p:nvPicPr>
          <p:cNvPr id="4" name="Image 0" descr="/tmp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66928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2148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566928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People, Performance, Progress — Together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66928" y="38862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Operations, people and payroll in one system — from the floor checklist to the payslip, without the spreadsheet chaos.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 · 2026</a:t>
            </a:r>
            <a:pPr indent="0" marL="0">
              <a:buNone/>
            </a:pPr>
            <a:r>
              <a:rPr lang="en-US" sz="13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evarca.com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every growing team knows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everyday failures that quietly cost you money, time and trust.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40280"/>
            <a:ext cx="2006742" cy="2514600"/>
          </a:xfrm>
          <a:prstGeom prst="roundRect">
            <a:avLst>
              <a:gd name="adj" fmla="val 5468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14600"/>
            <a:ext cx="658368" cy="658368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7" name="Image 0" descr="/tmp/deck/icons/clock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968" y="2672608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3300984"/>
            <a:ext cx="15678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on faith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86384" y="3840480"/>
            <a:ext cx="15678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clock in on paper — or not at all.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829702" y="2240280"/>
            <a:ext cx="2006742" cy="2514600"/>
          </a:xfrm>
          <a:prstGeom prst="roundRect">
            <a:avLst>
              <a:gd name="adj" fmla="val 5468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085734" y="2514600"/>
            <a:ext cx="658368" cy="658368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12" name="Image 1" descr="/tmp/deck/icons/msg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743" y="267260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49158" y="3300984"/>
            <a:ext cx="15678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lost in chat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049158" y="3840480"/>
            <a:ext cx="15678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and promises scroll away forever.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092476" y="2240280"/>
            <a:ext cx="2006742" cy="2514600"/>
          </a:xfrm>
          <a:prstGeom prst="roundRect">
            <a:avLst>
              <a:gd name="adj" fmla="val 5468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348508" y="2514600"/>
            <a:ext cx="658368" cy="658368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17" name="Image 2" descr="/tmp/deck/icons/calendar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6517" y="2672608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11932" y="3300984"/>
            <a:ext cx="15678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is a guess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311932" y="3840480"/>
            <a:ext cx="15678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call, a hunch, an argument in December.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355251" y="2240280"/>
            <a:ext cx="2006742" cy="2514600"/>
          </a:xfrm>
          <a:prstGeom prst="roundRect">
            <a:avLst>
              <a:gd name="adj" fmla="val 5468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611283" y="2514600"/>
            <a:ext cx="658368" cy="658368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22" name="Image 3" descr="/tmp/deck/icons/coins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9291" y="2672608"/>
            <a:ext cx="342351" cy="34235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74707" y="3300984"/>
            <a:ext cx="15678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by spreadsheet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574707" y="3840480"/>
            <a:ext cx="15678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late nights. One wrong cell, one wrong salary.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9618025" y="2240280"/>
            <a:ext cx="2006742" cy="2514600"/>
          </a:xfrm>
          <a:prstGeom prst="roundRect">
            <a:avLst>
              <a:gd name="adj" fmla="val 5468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874057" y="2514600"/>
            <a:ext cx="658368" cy="658368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27" name="Image 4" descr="/tmp/deck/icons/lock_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2065" y="2672608"/>
            <a:ext cx="342351" cy="34235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837481" y="3300984"/>
            <a:ext cx="15678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9837481" y="3840480"/>
            <a:ext cx="15678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approved this?” — then silence.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566928" y="5074920"/>
            <a:ext cx="11057839" cy="868680"/>
          </a:xfrm>
          <a:prstGeom prst="roundRect">
            <a:avLst>
              <a:gd name="adj" fmla="val 12632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841248" y="5074920"/>
            <a:ext cx="1050919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need more people. </a:t>
            </a:r>
            <a:pPr indent="0" marL="0">
              <a:buNone/>
            </a:pPr>
            <a:r>
              <a:rPr lang="en-US" sz="14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need one system that carries a task from the moment it happens to the moment it’s paid, approved and logged.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 · People, Performance, Progress — Together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 your whole company opens in the morning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phone or a laptop, nothing to install. Everyone sees only what their role allows.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3442106" cy="27432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2633472"/>
            <a:ext cx="777240" cy="77724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7" name="Image 0" descr="/tmp/deck/icons/users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506" y="2820010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566160"/>
            <a:ext cx="2802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14400" y="4069080"/>
            <a:ext cx="274716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day: clock in, today’s checklists, and a live leave balance they can trust.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74794" y="2286000"/>
            <a:ext cx="3442106" cy="27432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94834" y="2633472"/>
            <a:ext cx="777240" cy="77724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12" name="Image 1" descr="/tmp/deck/icons/bell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372" y="2820010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22266" y="3566160"/>
            <a:ext cx="2802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722266" y="4069080"/>
            <a:ext cx="274716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team — plus one inbox with everything waiting on a decision. Nothing lives in chat.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82661" y="2286000"/>
            <a:ext cx="3442106" cy="27432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02701" y="2633472"/>
            <a:ext cx="777240" cy="77724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17" name="Image 2" descr="/tmp/deck/icons/chart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9238" y="2820010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30133" y="3566160"/>
            <a:ext cx="2802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Owners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530133" y="4069080"/>
            <a:ext cx="274716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Payroll, compliance and live analytics across the whole company, drill-down to the record.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66928" y="5349240"/>
            <a:ext cx="11057839" cy="640080"/>
          </a:xfrm>
          <a:prstGeom prst="roundRect">
            <a:avLst>
              <a:gd name="adj" fmla="val 17143"/>
            </a:avLst>
          </a:prstGeom>
          <a:solidFill>
            <a:srgbClr val="1C212B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841248" y="5349240"/>
            <a:ext cx="105091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areas, one shared live database  </a:t>
            </a:r>
            <a:pPr indent="0" marL="0">
              <a:buNone/>
            </a:pPr>
            <a:r>
              <a:rPr lang="en-US" sz="13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copy-paste between tools, no version confusion.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 · People, Performance, Progress — Together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one ordinary day flows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an employee does flows to the manager’s inbox; everything approved flows into payroll — automatically.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2339264" cy="18288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037512" y="2670048"/>
            <a:ext cx="585216" cy="585216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8" name="Image 0" descr="/tmp/deck/icons/clock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7964" y="2810500"/>
            <a:ext cx="304312" cy="304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6384" y="3255264"/>
            <a:ext cx="197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in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" y="3602736"/>
            <a:ext cx="193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location checked automatically.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015920" y="3383280"/>
            <a:ext cx="347472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73120" y="2468880"/>
            <a:ext cx="2339264" cy="18288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674288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943704" y="2670048"/>
            <a:ext cx="585216" cy="585216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15" name="Image 1" descr="/tmp/deck/icons/check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155" y="2810500"/>
            <a:ext cx="304312" cy="3043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92576" y="3255264"/>
            <a:ext cx="197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checklists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692576" y="3602736"/>
            <a:ext cx="193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times + photo proof. Late flags itself.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922112" y="3383280"/>
            <a:ext cx="347472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6379312" y="2468880"/>
            <a:ext cx="2339264" cy="18288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658048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7849895" y="2670048"/>
            <a:ext cx="585216" cy="585216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22" name="Image 2" descr="/tmp/deck/icons/doc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0347" y="2810500"/>
            <a:ext cx="304312" cy="30431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598768" y="3255264"/>
            <a:ext cx="197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requests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598768" y="3602736"/>
            <a:ext cx="193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Leave, overtime, edits — become requests.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828303" y="3383280"/>
            <a:ext cx="347472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9285503" y="2468880"/>
            <a:ext cx="2339264" cy="18288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9486671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10756087" y="2670048"/>
            <a:ext cx="585216" cy="585216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29" name="Image 3" descr="/tmp/deck/icons/bell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6539" y="2810500"/>
            <a:ext cx="304312" cy="30431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504959" y="3255264"/>
            <a:ext cx="197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decides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9504959" y="3602736"/>
            <a:ext cx="193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inbox. No dead ends, full history.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66928" y="4709160"/>
            <a:ext cx="11057839" cy="123444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886968" y="4846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Then, with no re-typing: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886968" y="5230368"/>
            <a:ext cx="457200" cy="457200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35" name="Image 4" descr="/tmp/deck/icons/coins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5340096"/>
            <a:ext cx="237744" cy="23774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453896" y="5230368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reads the month itself</a:t>
            </a:r>
            <a:endParaRPr lang="en-US" sz="1250" dirty="0"/>
          </a:p>
        </p:txBody>
      </p:sp>
      <p:sp>
        <p:nvSpPr>
          <p:cNvPr id="37" name="Shape 30"/>
          <p:cNvSpPr/>
          <p:nvPr/>
        </p:nvSpPr>
        <p:spPr>
          <a:xfrm>
            <a:off x="4450994" y="5230368"/>
            <a:ext cx="457200" cy="457200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38" name="Image 5" descr="/tmp/deck/icons/target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0722" y="5340096"/>
            <a:ext cx="237744" cy="23774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017922" y="5230368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OKRs roll up</a:t>
            </a:r>
            <a:endParaRPr lang="en-US" sz="1250" dirty="0"/>
          </a:p>
        </p:txBody>
      </p:sp>
      <p:sp>
        <p:nvSpPr>
          <p:cNvPr id="40" name="Shape 32"/>
          <p:cNvSpPr/>
          <p:nvPr/>
        </p:nvSpPr>
        <p:spPr>
          <a:xfrm>
            <a:off x="8015021" y="5230368"/>
            <a:ext cx="457200" cy="457200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41" name="Image 6" descr="/tmp/deck/icons/shield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4749" y="5340096"/>
            <a:ext cx="237744" cy="237744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8581949" y="5230368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→ permanent audit log</a:t>
            </a:r>
            <a:endParaRPr lang="en-US" sz="1250" dirty="0"/>
          </a:p>
        </p:txBody>
      </p:sp>
      <p:sp>
        <p:nvSpPr>
          <p:cNvPr id="43" name="Text 3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 · People, Performance, Progress — Together</a:t>
            </a:r>
            <a:endParaRPr lang="en-US" sz="900" dirty="0"/>
          </a:p>
        </p:txBody>
      </p:sp>
      <p:sp>
        <p:nvSpPr>
          <p:cNvPr id="44" name="Text 35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EVARCA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connected modules, six areas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database underneath — here’s what teams feel from day 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3472586" cy="1572768"/>
          </a:xfrm>
          <a:prstGeom prst="roundRect">
            <a:avLst>
              <a:gd name="adj" fmla="val 6977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560320"/>
            <a:ext cx="603504" cy="603504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7" name="Image 0" descr="/tmp/deck/icons/check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089" y="2705161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596896"/>
            <a:ext cx="2375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9536" y="3218688"/>
            <a:ext cx="29239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 · Tickets · Announcements · Questions library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59554" y="2286000"/>
            <a:ext cx="3472586" cy="1572768"/>
          </a:xfrm>
          <a:prstGeom prst="roundRect">
            <a:avLst>
              <a:gd name="adj" fmla="val 6977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33874" y="2560320"/>
            <a:ext cx="603504" cy="603504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12" name="Image 1" descr="/tmp/deck/icons/clock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715" y="2705161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7106" y="2596896"/>
            <a:ext cx="2375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52162" y="3218688"/>
            <a:ext cx="29239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+ geofence · Leave · Overtime · Shift roster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52181" y="2286000"/>
            <a:ext cx="3472586" cy="1572768"/>
          </a:xfrm>
          <a:prstGeom prst="roundRect">
            <a:avLst>
              <a:gd name="adj" fmla="val 6977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26501" y="2560320"/>
            <a:ext cx="603504" cy="603504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17" name="Image 2" descr="/tmp/deck/icons/users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342" y="2705161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39733" y="2596896"/>
            <a:ext cx="2375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44789" y="3218688"/>
            <a:ext cx="29239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· Org hierarchy · Onboarding &amp; exit · Discipline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66928" y="4151376"/>
            <a:ext cx="3472586" cy="1572768"/>
          </a:xfrm>
          <a:prstGeom prst="roundRect">
            <a:avLst>
              <a:gd name="adj" fmla="val 6977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41248" y="4425696"/>
            <a:ext cx="603504" cy="603504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22" name="Image 3" descr="/tmp/deck/icons/coins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089" y="4570537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4462272"/>
            <a:ext cx="2375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&amp; compliance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59536" y="5084064"/>
            <a:ext cx="29239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· Payslips · WPS file · Gratuity · Letters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59554" y="4151376"/>
            <a:ext cx="3472586" cy="1572768"/>
          </a:xfrm>
          <a:prstGeom prst="roundRect">
            <a:avLst>
              <a:gd name="adj" fmla="val 6977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33874" y="4425696"/>
            <a:ext cx="603504" cy="603504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27" name="Image 4" descr="/tmp/deck/icons/chart_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8715" y="4570537"/>
            <a:ext cx="313822" cy="31382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47106" y="4462272"/>
            <a:ext cx="2375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4652162" y="5084064"/>
            <a:ext cx="29239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HR analytics · OKR roll-ups · CSV export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52181" y="4151376"/>
            <a:ext cx="3472586" cy="1572768"/>
          </a:xfrm>
          <a:prstGeom prst="roundRect">
            <a:avLst>
              <a:gd name="adj" fmla="val 6977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26501" y="4425696"/>
            <a:ext cx="603504" cy="603504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32" name="Image 5" descr="/tmp/deck/icons/lock_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1342" y="4570537"/>
            <a:ext cx="313822" cy="31382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39733" y="4462272"/>
            <a:ext cx="2375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8444789" y="5084064"/>
            <a:ext cx="29239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permission switches · scopes · overrides · audit log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 · People, Performance, Progress — Together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 that can’t be faked or forgotten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task lists that carry proof and chase themselves.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2352980" cy="233172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807208"/>
            <a:ext cx="731520" cy="73152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7" name="Image 0" descr="/tmp/deck/icons/check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982773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00784" y="2916936"/>
            <a:ext cx="1164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3685032"/>
            <a:ext cx="1895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with a due time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2960" y="4178808"/>
            <a:ext cx="18957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list, hygiene check, stock count — assigned to a role.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011348" y="3680460"/>
            <a:ext cx="365760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68548" y="2514600"/>
            <a:ext cx="2352980" cy="233172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742868" y="2807208"/>
            <a:ext cx="731520" cy="73152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14" name="Image 1" descr="/tmp/deck/icons/phone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433" y="2982773"/>
            <a:ext cx="380390" cy="3803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02404" y="2916936"/>
            <a:ext cx="1164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724580" y="3685032"/>
            <a:ext cx="1895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proof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3724580" y="4178808"/>
            <a:ext cx="18957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can require a photo — no photo, no tick.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912968" y="3680460"/>
            <a:ext cx="365760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6370168" y="2514600"/>
            <a:ext cx="2352980" cy="233172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644488" y="2807208"/>
            <a:ext cx="731520" cy="73152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21" name="Image 2" descr="/tmp/deck/icons/clock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052" y="2982773"/>
            <a:ext cx="380390" cy="38039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504024" y="2916936"/>
            <a:ext cx="1164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626200" y="3685032"/>
            <a:ext cx="1895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Auto-LATE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6626200" y="4178808"/>
            <a:ext cx="18957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the due time and the task flags itself. No chasing.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8814587" y="3680460"/>
            <a:ext cx="365760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9271787" y="2514600"/>
            <a:ext cx="2352980" cy="233172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546107" y="2807208"/>
            <a:ext cx="731520" cy="73152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28" name="Image 3" descr="/tmp/deck/icons/bell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1672" y="2982773"/>
            <a:ext cx="380390" cy="38039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405643" y="2916936"/>
            <a:ext cx="1164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9527819" y="3685032"/>
            <a:ext cx="1895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Auto-escalate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9527819" y="4178808"/>
            <a:ext cx="18957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 answer opens a ticket and routes it to the right owner.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566928" y="5166360"/>
            <a:ext cx="11057839" cy="749808"/>
          </a:xfrm>
          <a:prstGeom prst="roundRect">
            <a:avLst>
              <a:gd name="adj" fmla="val 14634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841248" y="5166360"/>
            <a:ext cx="105091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every shift leaves a record — who did what, when, with proof — instead of a chat message that scrolls away.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 · People, Performance, Progress — Together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without the register or the arguments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tap, checked against the office — the flags write themselves.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2352980" cy="233172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807208"/>
            <a:ext cx="731520" cy="73152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7" name="Image 0" descr="/tmp/deck/icons/phone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982773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00784" y="2916936"/>
            <a:ext cx="1164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3685032"/>
            <a:ext cx="1895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clock in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2960" y="4178808"/>
            <a:ext cx="18957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any phone browser — nothing to install.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011348" y="3680460"/>
            <a:ext cx="365760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68548" y="2514600"/>
            <a:ext cx="2352980" cy="233172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742868" y="2807208"/>
            <a:ext cx="731520" cy="73152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14" name="Image 1" descr="/tmp/deck/icons/pin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433" y="2982773"/>
            <a:ext cx="380390" cy="3803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02404" y="2916936"/>
            <a:ext cx="1164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724580" y="3685032"/>
            <a:ext cx="1895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check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3724580" y="4178808"/>
            <a:ext cx="18957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office radius? On-site. Working elsewhere? WFH tag.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912968" y="3680460"/>
            <a:ext cx="365760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6370168" y="2514600"/>
            <a:ext cx="2352980" cy="233172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644488" y="2807208"/>
            <a:ext cx="731520" cy="73152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21" name="Image 2" descr="/tmp/deck/icons/clock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052" y="2982773"/>
            <a:ext cx="380390" cy="38039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504024" y="2916936"/>
            <a:ext cx="1164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626200" y="3685032"/>
            <a:ext cx="1895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late / early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6626200" y="4178808"/>
            <a:ext cx="18957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arrivals and early exits flag automatically.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8814587" y="3680460"/>
            <a:ext cx="365760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9271787" y="2514600"/>
            <a:ext cx="2352980" cy="233172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546107" y="2807208"/>
            <a:ext cx="731520" cy="73152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28" name="Image 3" descr="/tmp/deck/icons/coins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1672" y="2982773"/>
            <a:ext cx="380390" cy="38039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405643" y="2916936"/>
            <a:ext cx="1164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9527819" y="3685032"/>
            <a:ext cx="1895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to pay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9527819" y="4178808"/>
            <a:ext cx="18957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days become paid days at month-end — no re-entry.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566928" y="5166360"/>
            <a:ext cx="11057839" cy="749808"/>
          </a:xfrm>
          <a:prstGeom prst="roundRect">
            <a:avLst>
              <a:gd name="adj" fmla="val 14634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841248" y="5166360"/>
            <a:ext cx="105091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office geofence with a per-person radius; every clock-in is timestamped and kept in the audit log.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 · People, Performance, Progress — Together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PEOPLE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approved in two taps — balances that keep themselves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in twenty seconds; the balance updates itself.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2352980" cy="233172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807208"/>
            <a:ext cx="731520" cy="73152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7" name="Image 0" descr="/tmp/deck/icons/calendar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982773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00784" y="2916936"/>
            <a:ext cx="1164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3685032"/>
            <a:ext cx="1895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in 20s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2960" y="4178808"/>
            <a:ext cx="18957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dates and type — the app shows the live balance first.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011348" y="3680460"/>
            <a:ext cx="365760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68548" y="2514600"/>
            <a:ext cx="2352980" cy="233172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742868" y="2807208"/>
            <a:ext cx="731520" cy="73152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14" name="Image 1" descr="/tmp/deck/icons/users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433" y="2982773"/>
            <a:ext cx="380390" cy="3803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02404" y="2916936"/>
            <a:ext cx="1164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724580" y="3685032"/>
            <a:ext cx="1895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approves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3724580" y="4178808"/>
            <a:ext cx="18957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 in the manager’s one inbox, not a WhatsApp thread.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912968" y="3680460"/>
            <a:ext cx="365760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6370168" y="2514600"/>
            <a:ext cx="2352980" cy="233172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644488" y="2807208"/>
            <a:ext cx="731520" cy="73152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21" name="Image 2" descr="/tmp/deck/icons/shield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052" y="2982773"/>
            <a:ext cx="380390" cy="38039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504024" y="2916936"/>
            <a:ext cx="1164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626200" y="3685032"/>
            <a:ext cx="1895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confirms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6626200" y="4178808"/>
            <a:ext cx="18957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where you need it; no dead ends if someone’s away.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8814587" y="3680460"/>
            <a:ext cx="365760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9271787" y="2514600"/>
            <a:ext cx="2352980" cy="233172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546107" y="2807208"/>
            <a:ext cx="731520" cy="73152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28" name="Image 3" descr="/tmp/deck/icons/check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1672" y="2982773"/>
            <a:ext cx="380390" cy="38039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405643" y="2916936"/>
            <a:ext cx="1164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9527819" y="3685032"/>
            <a:ext cx="1895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updates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9527819" y="4178808"/>
            <a:ext cx="18957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→ 18 automatically, paid / unpaid split ready for payroll.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566928" y="5166360"/>
            <a:ext cx="11057839" cy="749808"/>
          </a:xfrm>
          <a:prstGeom prst="roundRect">
            <a:avLst>
              <a:gd name="adj" fmla="val 14634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841248" y="5166360"/>
            <a:ext cx="105091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and exit run the same way — guided flows with owners and due dates, so nothing slips.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 · People, Performance, Progress — Together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&amp; 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month — four gates, zero spreadsheets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month assembles itself from the records the team already created. People only verify and approve.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ITSELF FROM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2395728"/>
            <a:ext cx="2572436" cy="841248"/>
          </a:xfrm>
          <a:prstGeom prst="roundRect">
            <a:avLst>
              <a:gd name="adj" fmla="val 13043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2542032"/>
            <a:ext cx="2206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852928"/>
            <a:ext cx="2206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days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95396" y="2395728"/>
            <a:ext cx="2572436" cy="841248"/>
          </a:xfrm>
          <a:prstGeom prst="roundRect">
            <a:avLst>
              <a:gd name="adj" fmla="val 13043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78276" y="2542032"/>
            <a:ext cx="2206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leave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78276" y="2852928"/>
            <a:ext cx="2206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/ unpaid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23864" y="2395728"/>
            <a:ext cx="2572436" cy="841248"/>
          </a:xfrm>
          <a:prstGeom prst="roundRect">
            <a:avLst>
              <a:gd name="adj" fmla="val 13043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6744" y="2542032"/>
            <a:ext cx="2206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overtime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6744" y="2852928"/>
            <a:ext cx="2206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your multiplier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52331" y="2395728"/>
            <a:ext cx="2572436" cy="841248"/>
          </a:xfrm>
          <a:prstGeom prst="roundRect">
            <a:avLst>
              <a:gd name="adj" fmla="val 13043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35211" y="2542032"/>
            <a:ext cx="2206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 absence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235211" y="2852928"/>
            <a:ext cx="2206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auto-deduction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657600"/>
            <a:ext cx="2352980" cy="914400"/>
          </a:xfrm>
          <a:prstGeom prst="roundRect">
            <a:avLst>
              <a:gd name="adj" fmla="val 10000"/>
            </a:avLst>
          </a:prstGeom>
          <a:solidFill>
            <a:srgbClr val="1C212B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68096" y="37856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389888" y="3840480"/>
            <a:ext cx="1438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89888" y="4160520"/>
            <a:ext cx="1438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every line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029636" y="4114800"/>
            <a:ext cx="329184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468548" y="3657600"/>
            <a:ext cx="2352980" cy="914400"/>
          </a:xfrm>
          <a:prstGeom prst="roundRect">
            <a:avLst>
              <a:gd name="adj" fmla="val 10000"/>
            </a:avLst>
          </a:prstGeom>
          <a:solidFill>
            <a:srgbClr val="1C212B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69716" y="37856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291508" y="3840480"/>
            <a:ext cx="1438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291508" y="4160520"/>
            <a:ext cx="1438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for the month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31256" y="4114800"/>
            <a:ext cx="329184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370168" y="3657600"/>
            <a:ext cx="2352980" cy="914400"/>
          </a:xfrm>
          <a:prstGeom prst="roundRect">
            <a:avLst>
              <a:gd name="adj" fmla="val 10000"/>
            </a:avLst>
          </a:prstGeom>
          <a:solidFill>
            <a:srgbClr val="1C212B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71336" y="37856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193128" y="3840480"/>
            <a:ext cx="1438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193128" y="4160520"/>
            <a:ext cx="1438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People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832875" y="4114800"/>
            <a:ext cx="329184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271787" y="3657600"/>
            <a:ext cx="2352980" cy="914400"/>
          </a:xfrm>
          <a:prstGeom prst="roundRect">
            <a:avLst>
              <a:gd name="adj" fmla="val 10000"/>
            </a:avLst>
          </a:prstGeom>
          <a:solidFill>
            <a:srgbClr val="0E9F6E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472955" y="37856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10094747" y="3840480"/>
            <a:ext cx="1438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094747" y="4160520"/>
            <a:ext cx="1438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+ notifies all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66928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back any time until Finalize — mistakes are cheap.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6928" y="5029200"/>
            <a:ext cx="2572436" cy="868680"/>
          </a:xfrm>
          <a:prstGeom prst="roundRect">
            <a:avLst>
              <a:gd name="adj" fmla="val 12632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49808" y="5175504"/>
            <a:ext cx="2206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49808" y="5504688"/>
            <a:ext cx="2206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· gratuity shown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395396" y="5029200"/>
            <a:ext cx="2572436" cy="868680"/>
          </a:xfrm>
          <a:prstGeom prst="roundRect">
            <a:avLst>
              <a:gd name="adj" fmla="val 12632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578276" y="5175504"/>
            <a:ext cx="2206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WPS bank file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3578276" y="5504688"/>
            <a:ext cx="2206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&amp; KSA presets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23864" y="5029200"/>
            <a:ext cx="2572436" cy="868680"/>
          </a:xfrm>
          <a:prstGeom prst="roundRect">
            <a:avLst>
              <a:gd name="adj" fmla="val 12632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406744" y="5175504"/>
            <a:ext cx="2206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Gratuity / EOS CSV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6406744" y="5504688"/>
            <a:ext cx="2206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end-of-service ready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052331" y="5029200"/>
            <a:ext cx="2572436" cy="868680"/>
          </a:xfrm>
          <a:prstGeom prst="roundRect">
            <a:avLst>
              <a:gd name="adj" fmla="val 12632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9235211" y="5175504"/>
            <a:ext cx="2206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vs last month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9235211" y="5504688"/>
            <a:ext cx="2206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anomalies fast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 · People, Performance, Progress — Together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sees what — control at micro level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→ personal override → scope. About a hundred switches across 30+ areas — checked in the app AND again in the database.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377440"/>
            <a:ext cx="5852160" cy="3200400"/>
          </a:xfrm>
          <a:prstGeom prst="roundRect">
            <a:avLst>
              <a:gd name="adj" fmla="val 3429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2606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Manager — Maya   </a:t>
            </a:r>
            <a:pPr indent="0" marL="0">
              <a:buNone/>
            </a:pPr>
            <a:r>
              <a:rPr lang="en-US" sz="14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overrides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team leave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504688" y="3255264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9" name="Shape 7"/>
          <p:cNvSpPr/>
          <p:nvPr/>
        </p:nvSpPr>
        <p:spPr>
          <a:xfrm>
            <a:off x="5888736" y="3273552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37673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payroll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504688" y="3822192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D6D9DF"/>
          </a:solidFill>
          <a:ln/>
        </p:spPr>
      </p:sp>
      <p:sp>
        <p:nvSpPr>
          <p:cNvPr id="12" name="Shape 10"/>
          <p:cNvSpPr/>
          <p:nvPr/>
        </p:nvSpPr>
        <p:spPr>
          <a:xfrm>
            <a:off x="5522976" y="3840480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86968" y="43342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checklists — her store only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504688" y="438912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15" name="Shape 13"/>
          <p:cNvSpPr/>
          <p:nvPr/>
        </p:nvSpPr>
        <p:spPr>
          <a:xfrm>
            <a:off x="5888736" y="4407408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" y="49011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salary data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504688" y="4956048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D6D9DF"/>
          </a:solidFill>
          <a:ln/>
        </p:spPr>
      </p:sp>
      <p:sp>
        <p:nvSpPr>
          <p:cNvPr id="18" name="Shape 16"/>
          <p:cNvSpPr/>
          <p:nvPr/>
        </p:nvSpPr>
        <p:spPr>
          <a:xfrm>
            <a:off x="5522976" y="4974336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876288" y="2377440"/>
            <a:ext cx="4748479" cy="91440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77456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653528" y="2523744"/>
            <a:ext cx="38340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653528" y="2834640"/>
            <a:ext cx="37883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bundle of switches — the starting point for a job.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76288" y="3438144"/>
            <a:ext cx="4748479" cy="914400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077456" y="36210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653528" y="3584448"/>
            <a:ext cx="38340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override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653528" y="3895344"/>
            <a:ext cx="37883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one switch for one person without changing the role.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76288" y="4498848"/>
            <a:ext cx="4748479" cy="914400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077456" y="4681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653528" y="4645152"/>
            <a:ext cx="38340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653528" y="4956048"/>
            <a:ext cx="37883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store, their department — not the whole company.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 · People, Performance, Progress — Together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event → the right people → the channels they chose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group chaos. Every alert is 1-to-1 and relevant, and respects each person’s switches.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651760"/>
            <a:ext cx="2834640" cy="2286000"/>
          </a:xfrm>
          <a:prstGeom prst="roundRect">
            <a:avLst>
              <a:gd name="adj" fmla="val 4800"/>
            </a:avLst>
          </a:prstGeom>
          <a:solidFill>
            <a:srgbClr val="1C212B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HAPPENS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95528" y="320040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approved · checklist overdue · payslip ready · review opened…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58768" y="2651760"/>
            <a:ext cx="2375306" cy="2286000"/>
          </a:xfrm>
          <a:prstGeom prst="roundRect">
            <a:avLst>
              <a:gd name="adj" fmla="val 4800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0" y="2926080"/>
            <a:ext cx="658368" cy="658368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10" name="Image 0" descr="/tmp/deck/icons/bell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2808" y="3084088"/>
            <a:ext cx="342351" cy="34235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882896" y="3035808"/>
            <a:ext cx="1278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114800" y="3749040"/>
            <a:ext cx="19181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inbox — tap opens the exact page. Always on.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47288" y="3794760"/>
            <a:ext cx="365760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554114" y="2651760"/>
            <a:ext cx="2375306" cy="2286000"/>
          </a:xfrm>
          <a:prstGeom prst="roundRect">
            <a:avLst>
              <a:gd name="adj" fmla="val 4800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810146" y="2926080"/>
            <a:ext cx="658368" cy="658368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16" name="Image 1" descr="/tmp/deck/icons/mail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155" y="3084088"/>
            <a:ext cx="342351" cy="34235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578242" y="3035808"/>
            <a:ext cx="1278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810146" y="3749040"/>
            <a:ext cx="19181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template + button. Respects every toggle.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3447288" y="3794760"/>
            <a:ext cx="365760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9249461" y="2651760"/>
            <a:ext cx="2375306" cy="2286000"/>
          </a:xfrm>
          <a:prstGeom prst="roundRect">
            <a:avLst>
              <a:gd name="adj" fmla="val 4800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9505493" y="2926080"/>
            <a:ext cx="658368" cy="658368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22" name="Image 2" descr="/tmp/deck/icons/msg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3501" y="3084088"/>
            <a:ext cx="342351" cy="34235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273589" y="3035808"/>
            <a:ext cx="1278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9505493" y="3749040"/>
            <a:ext cx="19181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add-on via the official Business API.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3447288" y="3794760"/>
            <a:ext cx="365760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566928" y="5166360"/>
            <a:ext cx="11057839" cy="749808"/>
          </a:xfrm>
          <a:prstGeom prst="roundRect">
            <a:avLst>
              <a:gd name="adj" fmla="val 14634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841248" y="5166360"/>
            <a:ext cx="105091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person, per event:  </a:t>
            </a:r>
            <a:pPr indent="0" marL="0">
              <a:buNone/>
            </a:pPr>
            <a:r>
              <a:rPr lang="en-US" sz="12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with number · quiet hours · language (EN / AR / HI) · critical-only mode · falls back to email · same audit trail.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 · People, Performance, Progress — Together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EVARCA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Evarca, instead of the usual options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teams run on spreadsheets plus chat, or a big HR suite priced per head. The honest comparison: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91840" y="2331720"/>
            <a:ext cx="2606954" cy="457200"/>
          </a:xfrm>
          <a:prstGeom prst="roundRect">
            <a:avLst>
              <a:gd name="adj" fmla="val 16000"/>
            </a:avLst>
          </a:prstGeom>
          <a:solidFill>
            <a:srgbClr val="1C212B"/>
          </a:solidFill>
          <a:ln/>
        </p:spPr>
      </p:sp>
      <p:sp>
        <p:nvSpPr>
          <p:cNvPr id="6" name="Text 4"/>
          <p:cNvSpPr/>
          <p:nvPr/>
        </p:nvSpPr>
        <p:spPr>
          <a:xfrm>
            <a:off x="3383280" y="2331720"/>
            <a:ext cx="24240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+ chat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54826" y="2331720"/>
            <a:ext cx="2606954" cy="457200"/>
          </a:xfrm>
          <a:prstGeom prst="roundRect">
            <a:avLst>
              <a:gd name="adj" fmla="val 16000"/>
            </a:avLst>
          </a:prstGeom>
          <a:solidFill>
            <a:srgbClr val="1C212B"/>
          </a:solidFill>
          <a:ln/>
        </p:spPr>
      </p:sp>
      <p:sp>
        <p:nvSpPr>
          <p:cNvPr id="8" name="Text 6"/>
          <p:cNvSpPr/>
          <p:nvPr/>
        </p:nvSpPr>
        <p:spPr>
          <a:xfrm>
            <a:off x="6246266" y="2331720"/>
            <a:ext cx="24240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HR suite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017813" y="2331720"/>
            <a:ext cx="2606954" cy="4572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10" name="Text 8"/>
          <p:cNvSpPr/>
          <p:nvPr/>
        </p:nvSpPr>
        <p:spPr>
          <a:xfrm>
            <a:off x="9109253" y="2331720"/>
            <a:ext cx="24240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2898648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operations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91840" y="2935224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9856" y="2935224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WhatsApp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154826" y="2935224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2842" y="2935224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only, not the floor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9017813" y="2935224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5829" y="2935224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to payslip, one loop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566928" y="348386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91840" y="3520440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9856" y="3520440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“Free” — costs hours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154826" y="3520440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82842" y="3520440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employee, per month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9017813" y="3520440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5829" y="3520440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— no per-head meter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566928" y="406908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91840" y="4105656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9856" y="4105656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None, but chaotic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6154826" y="4105656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82842" y="4105656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to months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9017813" y="4105656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5829" y="4105656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2–3 weeks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566928" y="4654296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payroll (WPS + gratuity)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291840" y="4690872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19856" y="4690872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error-prone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6154826" y="4690872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82842" y="4690872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or absent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9017813" y="4690872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5829" y="4690872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— UAE &amp; KSA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566928" y="5239512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front-line staff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291840" y="5276088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19856" y="5276088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but no record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6154826" y="5276088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82842" y="5276088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app to learn</a:t>
            </a:r>
            <a:endParaRPr lang="en-US" sz="1080" dirty="0"/>
          </a:p>
        </p:txBody>
      </p:sp>
      <p:sp>
        <p:nvSpPr>
          <p:cNvPr id="44" name="Shape 42"/>
          <p:cNvSpPr/>
          <p:nvPr/>
        </p:nvSpPr>
        <p:spPr>
          <a:xfrm>
            <a:off x="9017813" y="5276088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5829" y="5276088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+ WhatsApp</a:t>
            </a:r>
            <a:endParaRPr lang="en-US" sz="1080" dirty="0"/>
          </a:p>
        </p:txBody>
      </p:sp>
      <p:sp>
        <p:nvSpPr>
          <p:cNvPr id="46" name="Text 44"/>
          <p:cNvSpPr/>
          <p:nvPr/>
        </p:nvSpPr>
        <p:spPr>
          <a:xfrm>
            <a:off x="566928" y="5824728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3291840" y="5861304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19856" y="5861304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files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6154826" y="5861304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82842" y="5861304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Vendor-locked</a:t>
            </a:r>
            <a:endParaRPr lang="en-US" sz="1080" dirty="0"/>
          </a:p>
        </p:txBody>
      </p:sp>
      <p:sp>
        <p:nvSpPr>
          <p:cNvPr id="51" name="Shape 49"/>
          <p:cNvSpPr/>
          <p:nvPr/>
        </p:nvSpPr>
        <p:spPr>
          <a:xfrm>
            <a:off x="9017813" y="5861304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45829" y="5861304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database</a:t>
            </a:r>
            <a:endParaRPr lang="en-US" sz="1080" dirty="0"/>
          </a:p>
        </p:txBody>
      </p:sp>
      <p:sp>
        <p:nvSpPr>
          <p:cNvPr id="53" name="Text 51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 · People, Performance, Progress — Together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EVARCA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Evarca different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reasons teams switch — and stay.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40280"/>
            <a:ext cx="3472586" cy="1627632"/>
          </a:xfrm>
          <a:prstGeom prst="roundRect">
            <a:avLst>
              <a:gd name="adj" fmla="val 6742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514600"/>
            <a:ext cx="603504" cy="603504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7" name="Image 0" descr="/tmp/deck/icons/lock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089" y="2659441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551176"/>
            <a:ext cx="2375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Customisable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9536" y="3172968"/>
            <a:ext cx="29239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permission switches — your checklists, chains and templates. Your rules.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59554" y="2240280"/>
            <a:ext cx="3472586" cy="1627632"/>
          </a:xfrm>
          <a:prstGeom prst="roundRect">
            <a:avLst>
              <a:gd name="adj" fmla="val 6742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33874" y="2514600"/>
            <a:ext cx="603504" cy="603504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12" name="Image 1" descr="/tmp/deck/icons/coins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715" y="2659441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65394" y="2551176"/>
            <a:ext cx="2375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52162" y="3172968"/>
            <a:ext cx="29239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pricing, no per-employee meter — hiring more never raises the bill.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52181" y="2240280"/>
            <a:ext cx="3472586" cy="1627632"/>
          </a:xfrm>
          <a:prstGeom prst="roundRect">
            <a:avLst>
              <a:gd name="adj" fmla="val 6742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26501" y="2514600"/>
            <a:ext cx="603504" cy="603504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17" name="Image 2" descr="/tmp/deck/icons/phone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342" y="2659441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58021" y="2551176"/>
            <a:ext cx="2375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to install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444789" y="3172968"/>
            <a:ext cx="29239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any browser, with a help note on every page. No training day.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66928" y="4142232"/>
            <a:ext cx="3472586" cy="1627632"/>
          </a:xfrm>
          <a:prstGeom prst="roundRect">
            <a:avLst>
              <a:gd name="adj" fmla="val 6742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41248" y="4416552"/>
            <a:ext cx="603504" cy="603504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22" name="Image 3" descr="/tmp/deck/icons/msg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089" y="4561393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72768" y="4453128"/>
            <a:ext cx="2375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optional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59536" y="5074920"/>
            <a:ext cx="29239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Business API alerts — per person, per event, when you want them.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59554" y="4142232"/>
            <a:ext cx="3472586" cy="1627632"/>
          </a:xfrm>
          <a:prstGeom prst="roundRect">
            <a:avLst>
              <a:gd name="adj" fmla="val 6742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33874" y="4416552"/>
            <a:ext cx="603504" cy="603504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27" name="Image 4" descr="/tmp/deck/icons/layers_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8715" y="4561393"/>
            <a:ext cx="313822" cy="31382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65394" y="4453128"/>
            <a:ext cx="2375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+ HR in one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4652162" y="5074920"/>
            <a:ext cx="29239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floor checklist to the payslip — one loop, not two systems.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152181" y="4142232"/>
            <a:ext cx="3472586" cy="1627632"/>
          </a:xfrm>
          <a:prstGeom prst="roundRect">
            <a:avLst>
              <a:gd name="adj" fmla="val 6742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26501" y="4416552"/>
            <a:ext cx="603504" cy="603504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32" name="Image 5" descr="/tmp/deck/icons/shield_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1342" y="4561393"/>
            <a:ext cx="313822" cy="31382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58021" y="4453128"/>
            <a:ext cx="2375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data, your security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8444789" y="5074920"/>
            <a:ext cx="29239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database, audit log and CSV export. Never locked in.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 · People, Performance, Progress — Together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data, your security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foundations — without the enterprise price tag.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2524430" cy="2743200"/>
          </a:xfrm>
          <a:prstGeom prst="roundRect">
            <a:avLst>
              <a:gd name="adj" fmla="val 4347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596896"/>
            <a:ext cx="731520" cy="73152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7" name="Image 0" descr="/tmp/deck/icons/shield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772461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3520440"/>
            <a:ext cx="20215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database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" y="4114800"/>
            <a:ext cx="20215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your own Supabase / PostgreSQL — the data is yours, not rented back.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11398" y="2286000"/>
            <a:ext cx="2524430" cy="2743200"/>
          </a:xfrm>
          <a:prstGeom prst="roundRect">
            <a:avLst>
              <a:gd name="adj" fmla="val 4347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85718" y="2596896"/>
            <a:ext cx="731520" cy="73152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12" name="Image 1" descr="/tmp/deck/icons/lock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283" y="2772461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85718" y="3520440"/>
            <a:ext cx="20215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85718" y="4114800"/>
            <a:ext cx="20215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enforced inside the database, not just hidden in the app.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55868" y="2286000"/>
            <a:ext cx="2524430" cy="2743200"/>
          </a:xfrm>
          <a:prstGeom prst="roundRect">
            <a:avLst>
              <a:gd name="adj" fmla="val 4347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30188" y="2596896"/>
            <a:ext cx="731520" cy="73152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17" name="Image 2" descr="/tmp/deck/icons/mai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752" y="2772461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30188" y="3520440"/>
            <a:ext cx="20215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everywhere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530188" y="4114800"/>
            <a:ext cx="20215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connections; passwords handled by an industry-standard auth service.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100337" y="2286000"/>
            <a:ext cx="2524430" cy="2743200"/>
          </a:xfrm>
          <a:prstGeom prst="roundRect">
            <a:avLst>
              <a:gd name="adj" fmla="val 4347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74657" y="2596896"/>
            <a:ext cx="731520" cy="73152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22" name="Image 3" descr="/tmp/deck/icons/doc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0222" y="2772461"/>
            <a:ext cx="380390" cy="38039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74657" y="3520440"/>
            <a:ext cx="20215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audit log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374657" y="4114800"/>
            <a:ext cx="20215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meaningful action recorded with a name and timestamp — exportable anytime.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 · People, Performance, Progress — Together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2–3 weeks. Free for a month.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rollout with the Evarca team — then a full month’s free dry run on your own data before you pay anything.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2387270" cy="2468880"/>
          </a:xfrm>
          <a:prstGeom prst="roundRect">
            <a:avLst>
              <a:gd name="adj" fmla="val 4596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19300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739896"/>
            <a:ext cx="19300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19117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30-minute call sets offices, departments, leave policy, roles &amp; people.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45638" y="3749040"/>
            <a:ext cx="320040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57118" y="2514600"/>
            <a:ext cx="2387270" cy="2468880"/>
          </a:xfrm>
          <a:prstGeom prst="roundRect">
            <a:avLst>
              <a:gd name="adj" fmla="val 4596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85718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713150" y="3429000"/>
            <a:ext cx="19300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13150" y="3739896"/>
            <a:ext cx="19300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713150" y="4206240"/>
            <a:ext cx="19117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+ checklists first; leave &amp; approvals follow within days.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35828" y="3749040"/>
            <a:ext cx="320040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47308" y="2514600"/>
            <a:ext cx="2387270" cy="2468880"/>
          </a:xfrm>
          <a:prstGeom prst="roundRect">
            <a:avLst>
              <a:gd name="adj" fmla="val 4596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75908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603340" y="3429000"/>
            <a:ext cx="19300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03340" y="3739896"/>
            <a:ext cx="19300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ready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03340" y="4206240"/>
            <a:ext cx="19117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branded with your logo; payroll rehearsed on your real month.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826017" y="3749040"/>
            <a:ext cx="320040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237497" y="2514600"/>
            <a:ext cx="2387270" cy="2468880"/>
          </a:xfrm>
          <a:prstGeom prst="roundRect">
            <a:avLst>
              <a:gd name="adj" fmla="val 4596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466097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493529" y="3429000"/>
            <a:ext cx="19300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F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493529" y="3739896"/>
            <a:ext cx="19300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dry run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493529" y="4206240"/>
            <a:ext cx="19117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whole team on real data, free for a full month. Keep it or walk away.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" y="5212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only after it proves itself.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 · People, Performance, Progress — Together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3291840"/>
            <a:ext cx="5852160" cy="5852160"/>
          </a:xfrm>
          <a:prstGeom prst="ellipse">
            <a:avLst/>
          </a:prstGeom>
          <a:solidFill>
            <a:srgbClr val="0E9F6E">
              <a:alpha val="20000"/>
            </a:srgbClr>
          </a:solidFill>
          <a:ln/>
        </p:spPr>
      </p:sp>
      <p:pic>
        <p:nvPicPr>
          <p:cNvPr id="3" name="Image 0" descr="/tmp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40080"/>
            <a:ext cx="868680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where the work happens.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566928" y="338328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Evarca running on your own data — live in 2–3 weeks, and your first month is a free dry run.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66928" y="4754880"/>
            <a:ext cx="457200" cy="457200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7" name="Image 1" descr="/tmp/deck/icons/mail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486460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33856" y="4754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info@evarca.com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133088" y="4754880"/>
            <a:ext cx="457200" cy="457200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10" name="Image 2" descr="/tmp/deck/icons/msg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816" y="486460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00016" y="4754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+971 50 966 0624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7699248" y="4754880"/>
            <a:ext cx="457200" cy="457200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13" name="Image 3" descr="/tmp/deck/icons/pin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4864608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66176" y="4754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Dubai, UAE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566928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evarca.com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Evarca — Client Deck</dc:title>
  <dc:subject>PptxGenJS Presentation</dc:subject>
  <dc:creator>Evarca</dc:creator>
  <cp:lastModifiedBy>Evarca</cp:lastModifiedBy>
  <cp:revision>1</cp:revision>
  <dcterms:created xsi:type="dcterms:W3CDTF">2026-07-16T08:48:47Z</dcterms:created>
  <dcterms:modified xsi:type="dcterms:W3CDTF">2026-07-16T08:48:47Z</dcterms:modified>
</cp:coreProperties>
</file>